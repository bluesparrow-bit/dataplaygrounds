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87" r:id="rId3"/>
    <p:sldId id="283" r:id="rId4"/>
    <p:sldId id="265" r:id="rId5"/>
    <p:sldId id="2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80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B0AB-968D-CA4B-E984-48F19CB22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651BD-84BF-1024-C5BD-B3FCC0731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EA667-0C71-BDAF-2E0D-DECF2971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E458A-1D87-457C-25FE-ACEA201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6A106-408D-48DD-A11A-4755E904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27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D4E7-E45C-551A-E377-E65BE1EF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59EB-247D-200B-8890-8384C58EC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010F5-8E58-30F1-9BF6-78584677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CF215-2CD7-A62E-FC9E-E9E6E691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C8236-AC85-9340-8BE9-C6AA4112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90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695F-98D8-D2F5-0365-9D3EB2E0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D1D5E-B269-87EF-7498-27C5C6436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B619D-9775-DA3D-2CCA-3D47C5F6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E0999-F61C-795C-BA7D-14D6DF56F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FCFDB-33D1-677C-8A74-3A8DFB5F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23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4720-3453-2B04-B9A8-987A9485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2664C-1E54-A175-B8B8-64418584C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F0E36-05EC-DF4D-335D-5F9A3BF9F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54DD-7B4B-9E4E-CDDD-2505ECF1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63BA8-0729-AAF6-CD07-48FC53BB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FDDFF-4A62-9565-0FC1-65711C59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2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50CFB-748A-FDB3-F22E-20BEA49EE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83676-302A-0094-0F3E-98D349BFF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B51B7-709A-E877-DC40-FE1DC3879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1E8CF-C7AC-8C8A-243D-1F14F4D129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585ED-FA42-FD1E-ED52-535DBD6CF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D4536-1550-1277-7FED-2FA41848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B1935-A685-DE4F-6C70-8529360E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B6174-79E9-B9D5-690A-D7F6EBD2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40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6473-1AAE-1489-4252-50F9ECE9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53FEC-A90D-2425-2998-FFB17EB0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6C3AB-529A-7B65-4F06-972A8E70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3D10-E65D-CA7E-294F-6466B421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7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76FCD-4D99-8DAC-A27E-28FAE298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CDC12-2F0B-3B2F-B7DA-9BC91E93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5D34A-7E9E-503E-5AD0-A421C04D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21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C2FF-D654-2FCE-E777-C570D38A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B1B4-F373-4656-6B3E-9A0265C35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A0011-D5BE-9AF3-8EA3-E199EBE45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D9D7C-FBD4-6011-E393-317C062D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6C498-F59D-AA78-6C1D-0808CAFD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D6AB0-F1D0-20CA-EAF4-B7B2596C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8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0C2E-52D9-7F16-4762-43657DF9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0259D-F99F-89EE-8B43-653DADD2E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BDD0F-3105-A9AF-4C15-3720644B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B86E9-63E7-1D14-EF7E-BDD0936C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19/09/2026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A8E12-BA82-E374-5EB1-E0AD30BC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2B7B2-7999-DAFD-DB60-34DDC452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2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5425-E759-5C47-1F19-CE8C5C89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1C5E5-25A8-0CFE-D016-DEB2AB3AE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EB4A-71DB-6CDF-0AB0-F376C9BA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1774E-9F25-38D8-4100-31BAC02D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EA7F9-68D6-C20D-BA23-C77E29E9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44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4AC0C-43EA-640B-5CAE-298B9F390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3203F-6824-A854-5CFB-241AFDA40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0DB3-4076-617E-0C68-AD3F37077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19/09/2026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3AEEE-3640-9CF1-9E65-2D5EB424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82B2F-5CEE-F7E5-F2F4-93E036D4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5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6A31D-A9AE-8BC6-B4E0-C22F794F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7ABFD-7EDB-66CC-618F-DFB67D80F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8FB8E-DB91-74EB-5D21-3DB2E2C10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19/09/2026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DF451-EB12-9C41-DA6E-A51CFE885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8BAD3-0E66-C0A1-D2D1-9DD0E8EFA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0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godb.com/docs/manual/reference/operator/query/ne/#mongodb-query-op.-ne" TargetMode="External"/><Relationship Id="rId3" Type="http://schemas.openxmlformats.org/officeDocument/2006/relationships/hyperlink" Target="https://www.mongodb.com/docs/manual/reference/operator/query/gt/#mongodb-query-op.-gt" TargetMode="External"/><Relationship Id="rId7" Type="http://schemas.openxmlformats.org/officeDocument/2006/relationships/hyperlink" Target="https://www.mongodb.com/docs/manual/reference/operator/query/lte/#mongodb-query-op.-lte" TargetMode="External"/><Relationship Id="rId2" Type="http://schemas.openxmlformats.org/officeDocument/2006/relationships/hyperlink" Target="https://www.mongodb.com/docs/manual/reference/operator/query/eq/#mongodb-query-op.-eq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/manual/reference/operator/query/lt/#mongodb-query-op.-lt" TargetMode="External"/><Relationship Id="rId5" Type="http://schemas.openxmlformats.org/officeDocument/2006/relationships/hyperlink" Target="https://www.mongodb.com/docs/manual/reference/operator/query/in/#mongodb-query-op.-in" TargetMode="External"/><Relationship Id="rId10" Type="http://schemas.openxmlformats.org/officeDocument/2006/relationships/hyperlink" Target="https://www.mongodb.com/docs/manual/reference/operator/query-comparison/#comparison-query-operators" TargetMode="External"/><Relationship Id="rId4" Type="http://schemas.openxmlformats.org/officeDocument/2006/relationships/hyperlink" Target="https://www.mongodb.com/docs/manual/reference/operator/query/gte/#mongodb-query-op.-gte" TargetMode="External"/><Relationship Id="rId9" Type="http://schemas.openxmlformats.org/officeDocument/2006/relationships/hyperlink" Target="https://www.mongodb.com/docs/manual/reference/operator/query/nin/#mongodb-query-op.-n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reference/operator/query/not/#mongodb-query-op.-not" TargetMode="External"/><Relationship Id="rId2" Type="http://schemas.openxmlformats.org/officeDocument/2006/relationships/hyperlink" Target="https://www.mongodb.com/docs/manual/reference/operator/query/and/#mongodb-query-op.-an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ongodb.com/docs/manual/reference/operator/query/or/#mongodb-query-op.-or" TargetMode="External"/><Relationship Id="rId4" Type="http://schemas.openxmlformats.org/officeDocument/2006/relationships/hyperlink" Target="https://www.mongodb.com/docs/manual/reference/operator/query/nor/#mongodb-query-op.-nor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godb.com/docs/manual/reference/operator/update/set/#mongodb-update-up.-set" TargetMode="External"/><Relationship Id="rId3" Type="http://schemas.openxmlformats.org/officeDocument/2006/relationships/hyperlink" Target="https://www.mongodb.com/docs/manual/reference/operator/update/inc/#mongodb-update-up.-inc" TargetMode="External"/><Relationship Id="rId7" Type="http://schemas.openxmlformats.org/officeDocument/2006/relationships/hyperlink" Target="https://www.mongodb.com/docs/manual/reference/operator/update/rename/#mongodb-update-up.-rename" TargetMode="External"/><Relationship Id="rId2" Type="http://schemas.openxmlformats.org/officeDocument/2006/relationships/hyperlink" Target="https://www.mongodb.com/docs/manual/reference/operator/update/currentDate/#mongodb-update-up.-currentD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/manual/reference/operator/update/mul/#mongodb-update-up.-mul" TargetMode="External"/><Relationship Id="rId5" Type="http://schemas.openxmlformats.org/officeDocument/2006/relationships/hyperlink" Target="https://www.mongodb.com/docs/manual/reference/operator/update/max/#mongodb-update-up.-max" TargetMode="External"/><Relationship Id="rId10" Type="http://schemas.openxmlformats.org/officeDocument/2006/relationships/hyperlink" Target="https://www.mongodb.com/docs/manual/reference/operator/update/unset/#mongodb-update-up.-unset" TargetMode="External"/><Relationship Id="rId4" Type="http://schemas.openxmlformats.org/officeDocument/2006/relationships/hyperlink" Target="https://www.mongodb.com/docs/manual/reference/operator/update/min/#mongodb-update-up.-min" TargetMode="External"/><Relationship Id="rId9" Type="http://schemas.openxmlformats.org/officeDocument/2006/relationships/hyperlink" Target="https://www.mongodb.com/docs/manual/reference/operator/update/setOnInsert/#mongodb-update-up.-setOnInse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3125" y="2950367"/>
            <a:ext cx="7905750" cy="1059657"/>
          </a:xfrm>
        </p:spPr>
        <p:txBody>
          <a:bodyPr>
            <a:normAutofit/>
          </a:bodyPr>
          <a:lstStyle/>
          <a:p>
            <a:r>
              <a:rPr lang="en-US" dirty="0"/>
              <a:t>NoSQL Cheat Sheet</a:t>
            </a:r>
          </a:p>
        </p:txBody>
      </p:sp>
    </p:spTree>
    <p:extLst>
      <p:ext uri="{BB962C8B-B14F-4D97-AF65-F5344CB8AC3E}">
        <p14:creationId xmlns:p14="http://schemas.microsoft.com/office/powerpoint/2010/main" val="377187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852231"/>
              </p:ext>
            </p:extLst>
          </p:nvPr>
        </p:nvGraphicFramePr>
        <p:xfrm>
          <a:off x="249796" y="1968327"/>
          <a:ext cx="4722798" cy="4132122"/>
        </p:xfrm>
        <a:graphic>
          <a:graphicData uri="http://schemas.openxmlformats.org/drawingml/2006/table">
            <a:tbl>
              <a:tblPr/>
              <a:tblGrid>
                <a:gridCol w="2361399">
                  <a:extLst>
                    <a:ext uri="{9D8B030D-6E8A-4147-A177-3AD203B41FA5}">
                      <a16:colId xmlns:a16="http://schemas.microsoft.com/office/drawing/2014/main" val="721035875"/>
                    </a:ext>
                  </a:extLst>
                </a:gridCol>
                <a:gridCol w="2361399">
                  <a:extLst>
                    <a:ext uri="{9D8B030D-6E8A-4147-A177-3AD203B41FA5}">
                      <a16:colId xmlns:a16="http://schemas.microsoft.com/office/drawing/2014/main" val="3817746337"/>
                    </a:ext>
                  </a:extLst>
                </a:gridCol>
              </a:tblGrid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solidFill>
                            <a:srgbClr val="1C2D38"/>
                          </a:solidFill>
                          <a:effectLst/>
                        </a:rPr>
                        <a:t>Keystroke</a:t>
                      </a:r>
                      <a:endParaRPr lang="en-US" sz="13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dirty="0">
                          <a:solidFill>
                            <a:srgbClr val="1C2D38"/>
                          </a:solidFill>
                          <a:effectLst/>
                        </a:rPr>
                        <a:t>Function</a:t>
                      </a:r>
                      <a:endParaRPr lang="en-US" sz="1300" b="1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253585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Up-arrow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previous-history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36440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Down-arrow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next-history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39357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Home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beginning-of-line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276596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End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end-of-line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82163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Tab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autocomplete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024319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Left-arrow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backward-character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404922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Right-arrow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forward-character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89676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Ctrl-left-arrow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backward-word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799854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Ctrl-right-arrow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forward-word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958938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Meta-left-arrow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backward-word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194451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Meta-right-arrow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forward-word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975588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Ctrl-A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beginning-of-line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55734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Ctrl-B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backward-char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55673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Ctrl-C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exit-shell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08612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Ctrl-D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delete-char (or exit shell)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020246"/>
                  </a:ext>
                </a:extLst>
              </a:tr>
              <a:tr h="24306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Ctrl-E</a:t>
                      </a: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end-of-line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6077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459733"/>
              </p:ext>
            </p:extLst>
          </p:nvPr>
        </p:nvGraphicFramePr>
        <p:xfrm>
          <a:off x="5164695" y="1968328"/>
          <a:ext cx="4287782" cy="4132121"/>
        </p:xfrm>
        <a:graphic>
          <a:graphicData uri="http://schemas.openxmlformats.org/drawingml/2006/table">
            <a:tbl>
              <a:tblPr/>
              <a:tblGrid>
                <a:gridCol w="2143891">
                  <a:extLst>
                    <a:ext uri="{9D8B030D-6E8A-4147-A177-3AD203B41FA5}">
                      <a16:colId xmlns:a16="http://schemas.microsoft.com/office/drawing/2014/main" val="39943960"/>
                    </a:ext>
                  </a:extLst>
                </a:gridCol>
                <a:gridCol w="2143891">
                  <a:extLst>
                    <a:ext uri="{9D8B030D-6E8A-4147-A177-3AD203B41FA5}">
                      <a16:colId xmlns:a16="http://schemas.microsoft.com/office/drawing/2014/main" val="1679180878"/>
                    </a:ext>
                  </a:extLst>
                </a:gridCol>
              </a:tblGrid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Ctrl-F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forward-char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68530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Ctrl-G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abort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702094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Ctrl-J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accept-line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26013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Ctrl-K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kill-line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517271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</a:rPr>
                        <a:t>Ctrl-L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clear-screen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84546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Ctrl-M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accept-line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6755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Ctrl-N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next-history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854065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Ctrl-P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previous-history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31371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Ctrl-R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reverse-search-history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115021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Ctrl-S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forward-search-history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459293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Ctrl-T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transpose-chars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895431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Ctrl-U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unix-line-discard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331032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Ctrl-W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unix-word-rubout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204583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Ctrl-Y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yank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25195"/>
                  </a:ext>
                </a:extLst>
              </a:tr>
              <a:tr h="43496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Ctrl-Z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Suspend (job control works in linux)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38291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Ctrl-H (i.e. Backspace)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backward-delete-char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626822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Ctrl-I (i.e. Tab)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complete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617383"/>
                  </a:ext>
                </a:extLst>
              </a:tr>
              <a:tr h="21748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Meta-B</a:t>
                      </a: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backward-word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0758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829617"/>
              </p:ext>
            </p:extLst>
          </p:nvPr>
        </p:nvGraphicFramePr>
        <p:xfrm>
          <a:off x="9518469" y="1968327"/>
          <a:ext cx="2673530" cy="4235974"/>
        </p:xfrm>
        <a:graphic>
          <a:graphicData uri="http://schemas.openxmlformats.org/drawingml/2006/table">
            <a:tbl>
              <a:tblPr/>
              <a:tblGrid>
                <a:gridCol w="1336765">
                  <a:extLst>
                    <a:ext uri="{9D8B030D-6E8A-4147-A177-3AD203B41FA5}">
                      <a16:colId xmlns:a16="http://schemas.microsoft.com/office/drawing/2014/main" val="1874523070"/>
                    </a:ext>
                  </a:extLst>
                </a:gridCol>
                <a:gridCol w="1336765">
                  <a:extLst>
                    <a:ext uri="{9D8B030D-6E8A-4147-A177-3AD203B41FA5}">
                      <a16:colId xmlns:a16="http://schemas.microsoft.com/office/drawing/2014/main" val="3344068526"/>
                    </a:ext>
                  </a:extLst>
                </a:gridCol>
              </a:tblGrid>
              <a:tr h="543184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Meta-C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capitalize-word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259"/>
                  </a:ext>
                </a:extLst>
              </a:tr>
              <a:tr h="27159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Meta-D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kill-word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10127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Meta-F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forward-word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60176"/>
                  </a:ext>
                </a:extLst>
              </a:tr>
              <a:tr h="543184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Meta-L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downcase-word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740696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Meta-U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upcase-word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49963"/>
                  </a:ext>
                </a:extLst>
              </a:tr>
              <a:tr h="27159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Meta-Y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yank-pop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614977"/>
                  </a:ext>
                </a:extLst>
              </a:tr>
              <a:tr h="543184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Meta-[Backspace]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backward-kill-word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004385"/>
                  </a:ext>
                </a:extLst>
              </a:tr>
              <a:tr h="543184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Meta-&lt;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beginning-of-history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01526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Meta-&gt;</a:t>
                      </a:r>
                    </a:p>
                  </a:txBody>
                  <a:tcPr marL="6096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end-of-history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08782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49796" y="433643"/>
            <a:ext cx="2819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Mongo Shell Short 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796" y="831653"/>
            <a:ext cx="58695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db.collection.function.help</a:t>
            </a:r>
            <a:r>
              <a:rPr lang="en-US" b="1" dirty="0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796" y="1264569"/>
            <a:ext cx="58695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db.collection+DoubleTab</a:t>
            </a:r>
            <a:r>
              <a:rPr lang="en-US" b="1" dirty="0"/>
              <a:t> (Auto Complete)</a:t>
            </a:r>
          </a:p>
          <a:p>
            <a:r>
              <a:rPr lang="en-US" b="1" dirty="0"/>
              <a:t>Show +</a:t>
            </a:r>
            <a:r>
              <a:rPr lang="en-US" b="1" dirty="0" err="1"/>
              <a:t>DoubleTab</a:t>
            </a:r>
            <a:r>
              <a:rPr lang="en-US" b="1" dirty="0"/>
              <a:t> (Auto Complete)</a:t>
            </a:r>
          </a:p>
        </p:txBody>
      </p:sp>
    </p:spTree>
    <p:extLst>
      <p:ext uri="{BB962C8B-B14F-4D97-AF65-F5344CB8AC3E}">
        <p14:creationId xmlns:p14="http://schemas.microsoft.com/office/powerpoint/2010/main" val="222250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cap="none" dirty="0">
                <a:solidFill>
                  <a:schemeClr val="accent3">
                    <a:lumMod val="50000"/>
                  </a:schemeClr>
                </a:solidFill>
                <a:latin typeface="MongoDB Value Serif"/>
              </a:rPr>
              <a:t>Comparison Query Operators</a:t>
            </a:r>
            <a:endParaRPr lang="en-US" altLang="en-US" sz="2800" cap="none" dirty="0">
              <a:solidFill>
                <a:schemeClr val="accent3">
                  <a:lumMod val="50000"/>
                </a:schemeClr>
              </a:solidFill>
              <a:latin typeface="MongoDB Value Serif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51579" y="2016124"/>
          <a:ext cx="9468970" cy="3449640"/>
        </p:xfrm>
        <a:graphic>
          <a:graphicData uri="http://schemas.openxmlformats.org/drawingml/2006/table">
            <a:tbl>
              <a:tblPr/>
              <a:tblGrid>
                <a:gridCol w="2840691">
                  <a:extLst>
                    <a:ext uri="{9D8B030D-6E8A-4147-A177-3AD203B41FA5}">
                      <a16:colId xmlns:a16="http://schemas.microsoft.com/office/drawing/2014/main" val="335245229"/>
                    </a:ext>
                  </a:extLst>
                </a:gridCol>
                <a:gridCol w="6628279">
                  <a:extLst>
                    <a:ext uri="{9D8B030D-6E8A-4147-A177-3AD203B41FA5}">
                      <a16:colId xmlns:a16="http://schemas.microsoft.com/office/drawing/2014/main" val="1348684299"/>
                    </a:ext>
                  </a:extLst>
                </a:gridCol>
              </a:tblGrid>
              <a:tr h="20292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solidFill>
                            <a:srgbClr val="1C2D38"/>
                          </a:solidFill>
                          <a:effectLst/>
                        </a:rPr>
                        <a:t>Name</a:t>
                      </a:r>
                      <a:endParaRPr lang="en-US" sz="13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solidFill>
                            <a:srgbClr val="1C2D38"/>
                          </a:solidFill>
                          <a:effectLst/>
                        </a:rPr>
                        <a:t>Description</a:t>
                      </a:r>
                      <a:endParaRPr lang="en-US" sz="13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7232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 dirty="0">
                          <a:solidFill>
                            <a:srgbClr val="016BF8"/>
                          </a:solidFill>
                          <a:effectLst/>
                          <a:hlinkClick r:id="rId2"/>
                        </a:rPr>
                        <a:t>$</a:t>
                      </a:r>
                      <a:r>
                        <a:rPr lang="en-US" sz="1300" u="none" strike="noStrike" dirty="0" err="1">
                          <a:solidFill>
                            <a:srgbClr val="016BF8"/>
                          </a:solidFill>
                          <a:effectLst/>
                          <a:hlinkClick r:id="rId2"/>
                        </a:rPr>
                        <a:t>eq</a:t>
                      </a:r>
                      <a:endParaRPr lang="en-US" sz="1300" dirty="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values that are equal to a specified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6073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 dirty="0">
                          <a:solidFill>
                            <a:srgbClr val="016BF8"/>
                          </a:solidFill>
                          <a:effectLst/>
                          <a:hlinkClick r:id="rId3"/>
                        </a:rPr>
                        <a:t>$</a:t>
                      </a:r>
                      <a:r>
                        <a:rPr lang="en-US" sz="1300" u="none" strike="noStrike" dirty="0" err="1">
                          <a:solidFill>
                            <a:srgbClr val="016BF8"/>
                          </a:solidFill>
                          <a:effectLst/>
                          <a:hlinkClick r:id="rId3"/>
                        </a:rPr>
                        <a:t>gt</a:t>
                      </a:r>
                      <a:endParaRPr lang="en-US" sz="1300" dirty="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values that are greater than a specified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39012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 dirty="0">
                          <a:solidFill>
                            <a:srgbClr val="016BF8"/>
                          </a:solidFill>
                          <a:effectLst/>
                          <a:hlinkClick r:id="rId4"/>
                        </a:rPr>
                        <a:t>$</a:t>
                      </a:r>
                      <a:r>
                        <a:rPr lang="en-US" sz="1300" u="none" strike="noStrike" dirty="0" err="1">
                          <a:solidFill>
                            <a:srgbClr val="016BF8"/>
                          </a:solidFill>
                          <a:effectLst/>
                          <a:hlinkClick r:id="rId4"/>
                        </a:rPr>
                        <a:t>gte</a:t>
                      </a:r>
                      <a:endParaRPr lang="en-US" sz="1300" dirty="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values that are greater than or equal to a specified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318667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 dirty="0">
                          <a:solidFill>
                            <a:srgbClr val="016BF8"/>
                          </a:solidFill>
                          <a:effectLst/>
                          <a:hlinkClick r:id="rId5"/>
                        </a:rPr>
                        <a:t>$in</a:t>
                      </a:r>
                      <a:endParaRPr lang="en-US" sz="1300" dirty="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any of the values specified in an array.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390873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 dirty="0">
                          <a:solidFill>
                            <a:srgbClr val="016BF8"/>
                          </a:solidFill>
                          <a:effectLst/>
                          <a:hlinkClick r:id="rId6"/>
                        </a:rPr>
                        <a:t>$</a:t>
                      </a:r>
                      <a:r>
                        <a:rPr lang="en-US" sz="1300" u="none" strike="noStrike" dirty="0" err="1">
                          <a:solidFill>
                            <a:srgbClr val="016BF8"/>
                          </a:solidFill>
                          <a:effectLst/>
                          <a:hlinkClick r:id="rId6"/>
                        </a:rPr>
                        <a:t>lt</a:t>
                      </a:r>
                      <a:endParaRPr lang="en-US" sz="1300" dirty="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values that are less than a specified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823047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>
                          <a:solidFill>
                            <a:srgbClr val="016BF8"/>
                          </a:solidFill>
                          <a:effectLst/>
                          <a:hlinkClick r:id="rId7"/>
                        </a:rPr>
                        <a:t>$lte</a:t>
                      </a:r>
                      <a:endParaRPr lang="en-US" sz="130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values that are less than or equal to a specified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48508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>
                          <a:solidFill>
                            <a:srgbClr val="016BF8"/>
                          </a:solidFill>
                          <a:effectLst/>
                          <a:hlinkClick r:id="rId8"/>
                        </a:rPr>
                        <a:t>$ne</a:t>
                      </a:r>
                      <a:endParaRPr lang="en-US" sz="130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Matches all values that are not equal to a specified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240686"/>
                  </a:ext>
                </a:extLst>
              </a:tr>
              <a:tr h="40584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u="none" strike="noStrike">
                          <a:solidFill>
                            <a:srgbClr val="016BF8"/>
                          </a:solidFill>
                          <a:effectLst/>
                          <a:hlinkClick r:id="rId9"/>
                        </a:rPr>
                        <a:t>$nin</a:t>
                      </a:r>
                      <a:endParaRPr lang="en-US" sz="1300">
                        <a:effectLst/>
                      </a:endParaRPr>
                    </a:p>
                  </a:txBody>
                  <a:tcPr marL="4509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Matches none of the values specified in an array.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56274"/>
                  </a:ext>
                </a:extLst>
              </a:tr>
            </a:tbl>
          </a:graphicData>
        </a:graphic>
      </p:graphicFrame>
      <p:sp>
        <p:nvSpPr>
          <p:cNvPr id="5" name="AutoShape 2" descr="https://www.mongodb.com/docs/manual/assets/link.svg">
            <a:hlinkClick r:id="rId10" tooltip="Permalink to this heading"/>
          </p:cNvPr>
          <p:cNvSpPr>
            <a:spLocks noChangeAspect="1" noChangeArrowheads="1"/>
          </p:cNvSpPr>
          <p:nvPr/>
        </p:nvSpPr>
        <p:spPr bwMode="auto">
          <a:xfrm>
            <a:off x="4179888" y="-2222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51579" y="1484422"/>
            <a:ext cx="5715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db.inventory.find</a:t>
            </a:r>
            <a:r>
              <a:rPr lang="en-US" b="1" dirty="0">
                <a:solidFill>
                  <a:srgbClr val="FF0000"/>
                </a:solidFill>
              </a:rPr>
              <a:t>( { “</a:t>
            </a:r>
            <a:r>
              <a:rPr lang="en-US" b="1" dirty="0" err="1">
                <a:solidFill>
                  <a:srgbClr val="FF0000"/>
                </a:solidFill>
              </a:rPr>
              <a:t>qty</a:t>
            </a:r>
            <a:r>
              <a:rPr lang="en-US" b="1" dirty="0">
                <a:solidFill>
                  <a:srgbClr val="FF0000"/>
                </a:solidFill>
              </a:rPr>
              <a:t>” :  </a:t>
            </a:r>
            <a:r>
              <a:rPr lang="en-US" b="1" dirty="0">
                <a:solidFill>
                  <a:schemeClr val="tx2"/>
                </a:solidFill>
              </a:rPr>
              <a:t>{ $Operator : value} </a:t>
            </a:r>
            <a:r>
              <a:rPr lang="en-US" b="1" dirty="0">
                <a:solidFill>
                  <a:srgbClr val="FF0000"/>
                </a:solidFill>
              </a:rPr>
              <a:t>} )</a:t>
            </a:r>
          </a:p>
        </p:txBody>
      </p:sp>
    </p:spTree>
    <p:extLst>
      <p:ext uri="{BB962C8B-B14F-4D97-AF65-F5344CB8AC3E}">
        <p14:creationId xmlns:p14="http://schemas.microsoft.com/office/powerpoint/2010/main" val="29904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696686"/>
            <a:ext cx="9603275" cy="510738"/>
          </a:xfrm>
        </p:spPr>
        <p:txBody>
          <a:bodyPr>
            <a:normAutofit fontScale="90000"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cap="none" dirty="0">
                <a:latin typeface="MongoDB Value Serif"/>
              </a:rPr>
              <a:t>Logical Query Operators</a:t>
            </a:r>
            <a:endParaRPr lang="en-US" cap="none" dirty="0">
              <a:latin typeface="MongoDB Value Serif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624407"/>
              </p:ext>
            </p:extLst>
          </p:nvPr>
        </p:nvGraphicFramePr>
        <p:xfrm>
          <a:off x="838200" y="1825625"/>
          <a:ext cx="10514394" cy="3449637"/>
        </p:xfrm>
        <a:graphic>
          <a:graphicData uri="http://schemas.openxmlformats.org/drawingml/2006/table">
            <a:tbl>
              <a:tblPr/>
              <a:tblGrid>
                <a:gridCol w="3154318">
                  <a:extLst>
                    <a:ext uri="{9D8B030D-6E8A-4147-A177-3AD203B41FA5}">
                      <a16:colId xmlns:a16="http://schemas.microsoft.com/office/drawing/2014/main" val="1582036270"/>
                    </a:ext>
                  </a:extLst>
                </a:gridCol>
                <a:gridCol w="7360076">
                  <a:extLst>
                    <a:ext uri="{9D8B030D-6E8A-4147-A177-3AD203B41FA5}">
                      <a16:colId xmlns:a16="http://schemas.microsoft.com/office/drawing/2014/main" val="1896257556"/>
                    </a:ext>
                  </a:extLst>
                </a:gridCol>
              </a:tblGrid>
              <a:tr h="26535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1">
                          <a:solidFill>
                            <a:srgbClr val="1C2D38"/>
                          </a:solidFill>
                          <a:effectLst/>
                        </a:rPr>
                        <a:t>Name</a:t>
                      </a:r>
                      <a:endParaRPr lang="en-US" sz="17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1">
                          <a:solidFill>
                            <a:srgbClr val="1C2D38"/>
                          </a:solidFill>
                          <a:effectLst/>
                        </a:rPr>
                        <a:t>Description</a:t>
                      </a:r>
                      <a:endParaRPr lang="en-US" sz="17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462055"/>
                  </a:ext>
                </a:extLst>
              </a:tr>
              <a:tr h="79607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u="none" strike="noStrike">
                          <a:solidFill>
                            <a:srgbClr val="016BF8"/>
                          </a:solidFill>
                          <a:effectLst/>
                          <a:hlinkClick r:id="rId2"/>
                        </a:rPr>
                        <a:t>$and</a:t>
                      </a:r>
                      <a:endParaRPr lang="en-US" sz="1700">
                        <a:effectLst/>
                      </a:endParaRPr>
                    </a:p>
                  </a:txBody>
                  <a:tcPr marL="64563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>
                          <a:effectLst/>
                        </a:rPr>
                        <a:t>Joins query clauses with a logical AND returns all documents that match the conditions of both clauses.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53849"/>
                  </a:ext>
                </a:extLst>
              </a:tr>
              <a:tr h="79607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u="none" strike="noStrike">
                          <a:solidFill>
                            <a:srgbClr val="016BF8"/>
                          </a:solidFill>
                          <a:effectLst/>
                          <a:hlinkClick r:id="rId3"/>
                        </a:rPr>
                        <a:t>$not</a:t>
                      </a:r>
                      <a:endParaRPr lang="en-US" sz="1700">
                        <a:effectLst/>
                      </a:endParaRPr>
                    </a:p>
                  </a:txBody>
                  <a:tcPr marL="6456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>
                          <a:effectLst/>
                        </a:rPr>
                        <a:t>Inverts the effect of a query expression and returns documents that do </a:t>
                      </a:r>
                      <a:r>
                        <a:rPr lang="en-US" sz="1700" i="1">
                          <a:effectLst/>
                        </a:rPr>
                        <a:t>not</a:t>
                      </a:r>
                      <a:r>
                        <a:rPr lang="en-US" sz="1700">
                          <a:effectLst/>
                        </a:rPr>
                        <a:t> match the query expression.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67906"/>
                  </a:ext>
                </a:extLst>
              </a:tr>
              <a:tr h="79607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u="none" strike="noStrike">
                          <a:solidFill>
                            <a:srgbClr val="016BF8"/>
                          </a:solidFill>
                          <a:effectLst/>
                          <a:hlinkClick r:id="rId4"/>
                        </a:rPr>
                        <a:t>$nor</a:t>
                      </a:r>
                      <a:endParaRPr lang="en-US" sz="1700">
                        <a:effectLst/>
                      </a:endParaRPr>
                    </a:p>
                  </a:txBody>
                  <a:tcPr marL="6456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>
                          <a:effectLst/>
                        </a:rPr>
                        <a:t>Joins query clauses with a logical NOR returns all documents that fail to match both clauses.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59356"/>
                  </a:ext>
                </a:extLst>
              </a:tr>
              <a:tr h="79607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u="none" strike="noStrike">
                          <a:solidFill>
                            <a:srgbClr val="016BF8"/>
                          </a:solidFill>
                          <a:effectLst/>
                          <a:hlinkClick r:id="rId5"/>
                        </a:rPr>
                        <a:t>$or</a:t>
                      </a:r>
                      <a:endParaRPr lang="en-US" sz="1700">
                        <a:effectLst/>
                      </a:endParaRPr>
                    </a:p>
                  </a:txBody>
                  <a:tcPr marL="64563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dirty="0">
                          <a:effectLst/>
                        </a:rPr>
                        <a:t>Joins query clauses with a logical OR returns all documents that match the conditions of either clause.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69385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451578" y="1207423"/>
            <a:ext cx="96032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db.inventory.find</a:t>
            </a:r>
            <a:r>
              <a:rPr lang="en-US" b="1" dirty="0">
                <a:solidFill>
                  <a:schemeClr val="accent5"/>
                </a:solidFill>
              </a:rPr>
              <a:t>( { </a:t>
            </a:r>
            <a:r>
              <a:rPr lang="en-US" b="1" dirty="0">
                <a:solidFill>
                  <a:srgbClr val="FF0000"/>
                </a:solidFill>
              </a:rPr>
              <a:t>$Operator:  </a:t>
            </a:r>
            <a:r>
              <a:rPr lang="en-US" b="1" dirty="0">
                <a:solidFill>
                  <a:srgbClr val="FFFF00"/>
                </a:solidFill>
              </a:rPr>
              <a:t>[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{ price: { $ne: 1.99 } } </a:t>
            </a:r>
            <a:r>
              <a:rPr lang="en-US" b="1" dirty="0">
                <a:solidFill>
                  <a:srgbClr val="FF0000"/>
                </a:solidFill>
              </a:rPr>
              <a:t>,  </a:t>
            </a:r>
            <a:r>
              <a:rPr lang="en-US" b="1" dirty="0">
                <a:solidFill>
                  <a:schemeClr val="accent1"/>
                </a:solidFill>
              </a:rPr>
              <a:t>{ price: { $exists: true } } </a:t>
            </a:r>
            <a:r>
              <a:rPr lang="en-US" b="1" dirty="0">
                <a:solidFill>
                  <a:srgbClr val="FFFF00"/>
                </a:solidFill>
              </a:rPr>
              <a:t>] </a:t>
            </a:r>
            <a:r>
              <a:rPr lang="en-US" b="1" dirty="0">
                <a:solidFill>
                  <a:schemeClr val="accent5"/>
                </a:solidFill>
              </a:rPr>
              <a:t>} )</a:t>
            </a:r>
          </a:p>
        </p:txBody>
      </p:sp>
    </p:spTree>
    <p:extLst>
      <p:ext uri="{BB962C8B-B14F-4D97-AF65-F5344CB8AC3E}">
        <p14:creationId xmlns:p14="http://schemas.microsoft.com/office/powerpoint/2010/main" val="282666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149376"/>
              </p:ext>
            </p:extLst>
          </p:nvPr>
        </p:nvGraphicFramePr>
        <p:xfrm>
          <a:off x="1451580" y="2003584"/>
          <a:ext cx="8876786" cy="3996624"/>
        </p:xfrm>
        <a:graphic>
          <a:graphicData uri="http://schemas.openxmlformats.org/drawingml/2006/table">
            <a:tbl>
              <a:tblPr/>
              <a:tblGrid>
                <a:gridCol w="2663036">
                  <a:extLst>
                    <a:ext uri="{9D8B030D-6E8A-4147-A177-3AD203B41FA5}">
                      <a16:colId xmlns:a16="http://schemas.microsoft.com/office/drawing/2014/main" val="55393698"/>
                    </a:ext>
                  </a:extLst>
                </a:gridCol>
                <a:gridCol w="6213750">
                  <a:extLst>
                    <a:ext uri="{9D8B030D-6E8A-4147-A177-3AD203B41FA5}">
                      <a16:colId xmlns:a16="http://schemas.microsoft.com/office/drawing/2014/main" val="4235042878"/>
                    </a:ext>
                  </a:extLst>
                </a:gridCol>
              </a:tblGrid>
              <a:tr h="21163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>
                          <a:solidFill>
                            <a:srgbClr val="1C2D38"/>
                          </a:solidFill>
                          <a:effectLst/>
                        </a:rPr>
                        <a:t>Name</a:t>
                      </a:r>
                      <a:endParaRPr lang="en-US" sz="12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>
                          <a:solidFill>
                            <a:srgbClr val="1C2D38"/>
                          </a:solidFill>
                          <a:effectLst/>
                        </a:rPr>
                        <a:t>Description</a:t>
                      </a:r>
                      <a:endParaRPr lang="en-US" sz="1200" b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2133"/>
                  </a:ext>
                </a:extLst>
              </a:tr>
              <a:tr h="4202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>
                          <a:solidFill>
                            <a:srgbClr val="016BF8"/>
                          </a:solidFill>
                          <a:effectLst/>
                          <a:hlinkClick r:id="rId2"/>
                        </a:rPr>
                        <a:t>$currentDate</a:t>
                      </a:r>
                      <a:endParaRPr lang="en-US" sz="120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Sets the value of a field to current date, either as a Date or a Timestamp.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E8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1857"/>
                  </a:ext>
                </a:extLst>
              </a:tr>
              <a:tr h="4202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 dirty="0">
                          <a:solidFill>
                            <a:srgbClr val="016BF8"/>
                          </a:solidFill>
                          <a:effectLst/>
                          <a:hlinkClick r:id="rId3"/>
                        </a:rPr>
                        <a:t>$</a:t>
                      </a:r>
                      <a:r>
                        <a:rPr lang="en-US" sz="1200" u="none" strike="noStrike" dirty="0" err="1">
                          <a:solidFill>
                            <a:srgbClr val="016BF8"/>
                          </a:solidFill>
                          <a:effectLst/>
                          <a:hlinkClick r:id="rId3"/>
                        </a:rPr>
                        <a:t>inc</a:t>
                      </a:r>
                      <a:endParaRPr lang="en-US" sz="1200" dirty="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Increments the value of the field by the specified amount.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865629"/>
                  </a:ext>
                </a:extLst>
              </a:tr>
              <a:tr h="4202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 dirty="0">
                          <a:solidFill>
                            <a:srgbClr val="016BF8"/>
                          </a:solidFill>
                          <a:effectLst/>
                          <a:hlinkClick r:id="rId4"/>
                        </a:rPr>
                        <a:t>$min</a:t>
                      </a:r>
                      <a:endParaRPr lang="en-US" sz="1200" dirty="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Only updates the field if the specified value is less than the existing field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127635"/>
                  </a:ext>
                </a:extLst>
              </a:tr>
              <a:tr h="4202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 dirty="0">
                          <a:solidFill>
                            <a:srgbClr val="016BF8"/>
                          </a:solidFill>
                          <a:effectLst/>
                          <a:hlinkClick r:id="rId5"/>
                        </a:rPr>
                        <a:t>$max</a:t>
                      </a:r>
                      <a:r>
                        <a:rPr lang="en-US" sz="1200" u="none" strike="noStrike" dirty="0">
                          <a:solidFill>
                            <a:srgbClr val="016BF8"/>
                          </a:solidFill>
                          <a:effectLst/>
                        </a:rPr>
                        <a:t> </a:t>
                      </a:r>
                      <a:endParaRPr lang="en-US" sz="1200" dirty="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Only updates the field if the specified value is greater than the existing field value.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476657"/>
                  </a:ext>
                </a:extLst>
              </a:tr>
              <a:tr h="4202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 dirty="0">
                          <a:solidFill>
                            <a:srgbClr val="016BF8"/>
                          </a:solidFill>
                          <a:effectLst/>
                          <a:hlinkClick r:id="rId6"/>
                        </a:rPr>
                        <a:t>$</a:t>
                      </a:r>
                      <a:r>
                        <a:rPr lang="en-US" sz="1200" u="none" strike="noStrike" dirty="0" err="1">
                          <a:solidFill>
                            <a:srgbClr val="016BF8"/>
                          </a:solidFill>
                          <a:effectLst/>
                          <a:hlinkClick r:id="rId6"/>
                        </a:rPr>
                        <a:t>mul</a:t>
                      </a:r>
                      <a:endParaRPr lang="en-US" sz="1200" dirty="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Multiplies the value of the field by the specified amount.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44346"/>
                  </a:ext>
                </a:extLst>
              </a:tr>
              <a:tr h="21163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 dirty="0">
                          <a:solidFill>
                            <a:srgbClr val="016BF8"/>
                          </a:solidFill>
                          <a:effectLst/>
                          <a:hlinkClick r:id="rId7"/>
                        </a:rPr>
                        <a:t>$rename</a:t>
                      </a:r>
                      <a:endParaRPr lang="en-US" sz="1200" dirty="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Renames a field.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940613"/>
                  </a:ext>
                </a:extLst>
              </a:tr>
              <a:tr h="21163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>
                          <a:solidFill>
                            <a:srgbClr val="016BF8"/>
                          </a:solidFill>
                          <a:effectLst/>
                          <a:hlinkClick r:id="rId8"/>
                        </a:rPr>
                        <a:t>$set</a:t>
                      </a:r>
                      <a:endParaRPr lang="en-US" sz="120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Sets the value of a field in a document.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54949"/>
                  </a:ext>
                </a:extLst>
              </a:tr>
              <a:tr h="84042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>
                          <a:solidFill>
                            <a:srgbClr val="016BF8"/>
                          </a:solidFill>
                          <a:effectLst/>
                          <a:hlinkClick r:id="rId9"/>
                        </a:rPr>
                        <a:t>$setOnInsert</a:t>
                      </a:r>
                      <a:endParaRPr lang="en-US" sz="120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Sets the value of a field if an update results in an insert of a document. Has no effect on update operations that modify existing documents.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709858"/>
                  </a:ext>
                </a:extLst>
              </a:tr>
              <a:tr h="4202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u="none" strike="noStrike">
                          <a:solidFill>
                            <a:srgbClr val="016BF8"/>
                          </a:solidFill>
                          <a:effectLst/>
                          <a:hlinkClick r:id="rId10"/>
                        </a:rPr>
                        <a:t>$unset</a:t>
                      </a:r>
                      <a:endParaRPr lang="en-US" sz="1200">
                        <a:effectLst/>
                      </a:endParaRPr>
                    </a:p>
                  </a:txBody>
                  <a:tcPr marL="4034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Removes the specified field from a document.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790879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451580" y="1014940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Update Operators</a:t>
            </a:r>
          </a:p>
        </p:txBody>
      </p:sp>
    </p:spTree>
    <p:extLst>
      <p:ext uri="{BB962C8B-B14F-4D97-AF65-F5344CB8AC3E}">
        <p14:creationId xmlns:p14="http://schemas.microsoft.com/office/powerpoint/2010/main" val="218721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1956</TotalTime>
  <Words>540</Words>
  <Application>Microsoft Office PowerPoint</Application>
  <PresentationFormat>Widescreen</PresentationFormat>
  <Paragraphs>146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MongoDB Value Serif</vt:lpstr>
      <vt:lpstr>Office Theme</vt:lpstr>
      <vt:lpstr>NoSQL Cheat Sheet</vt:lpstr>
      <vt:lpstr>PowerPoint Presentation</vt:lpstr>
      <vt:lpstr>Comparison Query Operators</vt:lpstr>
      <vt:lpstr>Logical Query Operators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Ibrahim ElSayed ElSalamony</dc:creator>
  <cp:lastModifiedBy>Osama Elneshwy</cp:lastModifiedBy>
  <cp:revision>220</cp:revision>
  <dcterms:created xsi:type="dcterms:W3CDTF">2022-11-26T12:12:50Z</dcterms:created>
  <dcterms:modified xsi:type="dcterms:W3CDTF">2026-09-19T09:01:13Z</dcterms:modified>
</cp:coreProperties>
</file>